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572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754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TRAILMARK GUILD PROTOCOL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0972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the</a:t>
            </a:r>
            <a:endParaRPr lang="en-US" sz="5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Up.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320040" y="3337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handyman's story — and the protocol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changes the game for every gig worker.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49440" y="118872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</a:rPr>
              <a:t>30%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494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Platform Cut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49440" y="233172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</a:rPr>
              <a:t>90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94944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Days to Get Paid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347472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</a:rPr>
              <a:t>$0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49440" y="4069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Reputation Portable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MY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became a handyman.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it was easy — because I'm good at fixing things.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16052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313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075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Insurance Wall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24048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liability insurance: $2,400/year before I earned a single dollar. No work without it. No coverage, no clients.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416052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3134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075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"Not in the Club"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39512" y="24048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book their guys first. Platforms favor incumbents. New operators don't get callbacks — no matter how good the work.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383280"/>
            <a:ext cx="416052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73075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3493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Advertising Black Hole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96112" y="3822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Ads. Thumbtack leads. Angi fees. Spent hundreds to compete for jobs paying hundreds. The math never worked.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17720" y="3383280"/>
            <a:ext cx="416052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73075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9512" y="3493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Cash Flow Anxiety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239512" y="3822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when they felt like it. No contract protection. No escrow. Just hope and follow-up calls.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A580C"/>
                </a:solidFill>
              </a:rPr>
              <a:t>THE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gatekeeping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by design.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74320" y="2148840"/>
            <a:ext cx="210312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Barrier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148840"/>
            <a:ext cx="32004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148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Mechanism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2148840"/>
            <a:ext cx="32004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48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Who It Hurts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32888"/>
            <a:ext cx="210312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Procurement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532888"/>
            <a:ext cx="320040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5786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requirements, RFP complexity, Net-90 payment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532888"/>
            <a:ext cx="320040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5786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anyone without credit or insider knowledge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103120" cy="8046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Platforms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3337560"/>
            <a:ext cx="3200400" cy="8046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3832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cut, platform-owned reputation, deactivation risk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337560"/>
            <a:ext cx="3200400" cy="8046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3832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years of trust — lose it overnight if they ban you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42232"/>
            <a:ext cx="210312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8795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Systems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4142232"/>
            <a:ext cx="320040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1879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occupations regulated in Texas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4142232"/>
            <a:ext cx="320040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41879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often protect incumbents, not the public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"The same rules that protect incumbents are the rules new workers have to break through."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THIS ISN'T JUST MY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skilled worker faces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 version of this.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74320" y="2057400"/>
            <a:ext cx="416052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311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Handyman / Trades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work — no credential pathway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2057400"/>
            <a:ext cx="416052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311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148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Licensed Electrician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12080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TDLR verified — but rep doesn't travel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926080"/>
            <a:ext cx="416052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9981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Tutor / Educator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credential system at all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17720" y="2926080"/>
            <a:ext cx="416052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9981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Freelance Developer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21208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exists nowhere portable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3794760"/>
            <a:ext cx="416052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68496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3886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 Organizer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68680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work goes unrecognized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17720" y="3794760"/>
            <a:ext cx="416052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968496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12080" y="3886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 Services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212080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DAOs already solved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half the problem.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965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</a:rPr>
              <a:t>We just need to apply those tools to real-world skilled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2788920" cy="2286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56032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580C"/>
                </a:solidFill>
              </a:rPr>
              <a:t>PROBLEM: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flow protection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SOLUTION: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Escrow-on-post. Get paid when milestone confirmed — not when GC decides.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2560320"/>
            <a:ext cx="2788920" cy="2286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256032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432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33756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580C"/>
                </a:solidFill>
              </a:rPr>
              <a:t>PROBLEM: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3756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seat at the table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3756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SOLUTION: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33756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vote on parameters, fee structures, and tier rules. Code enforces it.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2560320"/>
            <a:ext cx="2788920" cy="2286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2560320"/>
            <a:ext cx="278892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432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Bounties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26364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580C"/>
                </a:solidFill>
              </a:rPr>
              <a:t>PROBLEM: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6364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break in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6364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SOLUTION: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26364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DAO-funded tasks for skill building, community work, and onboarding.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THE PROTOCOL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Trailmark Guild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infrastructure. Owned by workers.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0" y="548640"/>
            <a:ext cx="356616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5486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5943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0" y="640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Portable Reputation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On-chain. Yours forever.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can take 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435608"/>
            <a:ext cx="356616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435608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48132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1527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847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Peer-verified credentials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unlock real opportunities.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322576"/>
            <a:ext cx="356616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2322576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36829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 Escrow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7340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locked at job post.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on confirmation.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209544"/>
            <a:ext cx="356616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209544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25526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3504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DAO Governance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3621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set the rules.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enforces them.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4096512"/>
            <a:ext cx="356616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40965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414223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35040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Suite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4507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for onboarding,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bidding, and career paths.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first job to Guild Master.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645920" cy="3200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63040"/>
            <a:ext cx="164592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ID. Start at Tier 0.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check. No insurance required.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1938528"/>
            <a:ext cx="118872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463040"/>
            <a:ext cx="1645920" cy="3200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463040"/>
            <a:ext cx="164592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691640"/>
            <a:ext cx="548640" cy="5486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84832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4832" y="297180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posted with funds in escrow.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milestones, get paid same 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39312" y="1938528"/>
            <a:ext cx="118872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463040"/>
            <a:ext cx="1645920" cy="3200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463040"/>
            <a:ext cx="1645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9624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Rep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9624" y="297180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writes to your on-chain record.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attest. Score rises.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04104" y="1938528"/>
            <a:ext cx="118872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22976" y="1463040"/>
            <a:ext cx="1645920" cy="3200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2976" y="1463040"/>
            <a:ext cx="1645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16916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14416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Unlock Access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14416" y="297180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city sub-contracts.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GC functions. DAO bond coverage.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68896" y="1938528"/>
            <a:ext cx="118872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7768" y="1463040"/>
            <a:ext cx="1645920" cy="3200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7768" y="1463040"/>
            <a:ext cx="1645920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36408" y="1691640"/>
            <a:ext cx="548640" cy="5486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3640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79208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 It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79208" y="297180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treasury. Set tier rules.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YOUR AI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 that work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work.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 — each with a defined job, just like your crew.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2468880"/>
            <a:ext cx="2697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46888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060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Trailblazer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816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Onboarding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3035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you through sign-up in plain language. Detects your trade, pulls your TDLR license, finds your first vouchers.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2468880"/>
            <a:ext cx="2697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246888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6060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Scout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0" y="2816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</a:rPr>
              <a:t>Bid Intelligence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91840" y="3035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open jobs and Bonfire RFPs 24/7. Alerts you to matches. Drafts your first bid — you review and send.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80760" y="2468880"/>
            <a:ext cx="2697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0760" y="2468880"/>
            <a:ext cx="269748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0604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Pathfinder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83680" y="2816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CD34D"/>
                </a:solidFill>
              </a:rPr>
              <a:t>Career Pathway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217920" y="3035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what you need for the next tier. Surfaces training bounties. Tracks your progress in real time.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691640" y="3703320"/>
            <a:ext cx="2697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691640" y="370332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4048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9456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Wrangler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2194560" y="4050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</a:rPr>
              <a:t>Job Scoping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828800" y="4270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clients define work clearly before posting. Milestones set. Budget validated. Fewer disputes.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17720" y="3703320"/>
            <a:ext cx="2697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17720" y="3703320"/>
            <a:ext cx="269748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2064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Ranger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120640" y="4050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</a:rPr>
              <a:t>Treasury Watch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754880" y="4270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DAO treasury health and bond coverage. Drafts governance proposals from data. Alerts before problems hit.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with what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already exists.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</a:rPr>
              <a:t>We don't replace licensing. We make it navigable and portable.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416052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46888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6517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5420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TDLR Licenses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on-chain via API. Worker-owned attestation.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2468880"/>
            <a:ext cx="416052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46888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6517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5420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Bonfire Procurement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166360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agent monitors RFPs. Workers get alerts before the deadline.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3337560"/>
            <a:ext cx="416052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333756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2044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City Bond Programs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296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treasury provides pooled bond coverage for qualified workers.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17720" y="3337560"/>
            <a:ext cx="416052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17720" y="333756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204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66360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M/WBE Certification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16636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as a credential tier. Increases bid weight.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74320" y="4206240"/>
            <a:ext cx="416052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420624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38912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4279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National Cert Bodies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22960" y="4590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HVAC, electrical, plumbing certs → EAS attestation on-chain.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617720" y="4206240"/>
            <a:ext cx="416052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17720" y="420624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8912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66360" y="4279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DAOs &amp; Cities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166360" y="4590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is open. Any city can deploy their own Guild on top.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FWTX DAO  ·  Fort Worth, Texas  · 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206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TRAILMARK GUILD PROTOCOL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960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 work.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Fair pay.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Portable reputation.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3429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every skill. Enforced by code. Owned by workers.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914400"/>
            <a:ext cx="2286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241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005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For the Handyman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75120" y="14173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rep, get paid on time, break into city work.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583680" y="2057400"/>
            <a:ext cx="2286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671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For the City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75120" y="25603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vendors, transparent compliance, less paperwork.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583680" y="3200400"/>
            <a:ext cx="2286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31012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For the Ecosystem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675120" y="37033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— any city, any skill, any builder.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Trailmark Guild Protocol</dc:title>
  <dc:subject>PptxGenJS Presentation</dc:subject>
  <dc:creator>PptxGenJS</dc:creator>
  <cp:lastModifiedBy>PptxGenJS</cp:lastModifiedBy>
  <cp:revision>1</cp:revision>
  <dcterms:created xsi:type="dcterms:W3CDTF">2026-05-01T04:18:11Z</dcterms:created>
  <dcterms:modified xsi:type="dcterms:W3CDTF">2026-05-01T04:18:11Z</dcterms:modified>
</cp:coreProperties>
</file>