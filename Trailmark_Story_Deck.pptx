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57200"/>
            <a:ext cx="594360" cy="594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47548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TRAILMARK GUILD PROTOCOL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320040" y="109728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from the</a:t>
            </a:r>
            <a:endParaRPr lang="en-US" sz="5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Bottom Up.</a:t>
            </a:r>
            <a:endParaRPr lang="en-US" sz="5800" dirty="0"/>
          </a:p>
        </p:txBody>
      </p:sp>
      <p:sp>
        <p:nvSpPr>
          <p:cNvPr id="6" name="Text 3"/>
          <p:cNvSpPr/>
          <p:nvPr/>
        </p:nvSpPr>
        <p:spPr>
          <a:xfrm>
            <a:off x="320040" y="3337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handyman's story — and the protocol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changes the game for every gig worker.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MY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became a handyman.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20040" y="13716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because it was easy — because I'm good at fixing things.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1965960"/>
            <a:ext cx="4160520" cy="11887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231343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075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Insurance Wall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96112" y="240487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liability insurance: $2,400/year before I earned a single dollar. No work without it. No coverage, no clients.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17720" y="1965960"/>
            <a:ext cx="4160520" cy="11887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31343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39512" y="20756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"Not in the Club"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239512" y="240487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book their guys first. Platforms favor incumbents. New operators don't get callbacks — no matter how good the work.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74320" y="3383280"/>
            <a:ext cx="4160520" cy="11887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730752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96112" y="3493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Advertising Black Hole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96112" y="382219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Ads. Thumbtack leads. Angi fees. Spent hundreds to compete for jobs paying hundreds. The math never worked.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617720" y="3383280"/>
            <a:ext cx="4160520" cy="11887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5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312" y="3730752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239512" y="34930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Cash Flow Anxiety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239512" y="382219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when they felt like it. No contract protection. No escrow. Just hope and follow-up calls.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A580C"/>
                </a:solidFill>
              </a:rPr>
              <a:t>THE PATTERN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gatekeeping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by design.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274320" y="2148840"/>
            <a:ext cx="2103120" cy="3840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148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Barrier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2148840"/>
            <a:ext cx="3200400" cy="3840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2148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Mechanism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2148840"/>
            <a:ext cx="3200400" cy="38404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0" y="2148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Who It Hurts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532888"/>
            <a:ext cx="210312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57860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Procurement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68880" y="2532888"/>
            <a:ext cx="320040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257860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requirements, RFP complexity, Net-90 payment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2532888"/>
            <a:ext cx="320040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0" y="257860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out anyone without credit or insider knowledge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37560"/>
            <a:ext cx="2103120" cy="8046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3832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Platforms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68880" y="3337560"/>
            <a:ext cx="3200400" cy="8046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338328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cut, platform-owned reputation, deactivation risk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3337560"/>
            <a:ext cx="3200400" cy="8046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0" y="338328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years of trust — lose it overnight if they ban you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142232"/>
            <a:ext cx="210312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Systems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468880" y="4142232"/>
            <a:ext cx="320040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418795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occupations regulated in Texas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60720" y="4142232"/>
            <a:ext cx="320040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0" y="418795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often protect incumbents, not the public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CA3AF"/>
                </a:solidFill>
              </a:rPr>
              <a:t>"The same rules that protect incumbents are the rules new workers have to break through."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THIS ISN'T JUST MY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skilled worker faces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some version of this.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274320" y="205740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23113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148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Handyman / Trades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2441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Unlicensed work — no credential pathway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17720" y="205740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3113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2080" y="2148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Licensed Electrician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212080" y="24414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TDLR verified — but rep doesn't travel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74320" y="292608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099816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Tutor / Educator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68680" y="33101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formal credential system at all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617720" y="292608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099816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212080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Freelance Developer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212080" y="33101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shows code — not trust, payment history, or disputes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274320" y="379476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968496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68680" y="3886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Community Organizer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868680" y="41788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work goes unrecognized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617720" y="3794760"/>
            <a:ext cx="4160520" cy="6858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968496"/>
            <a:ext cx="347472" cy="34747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212080" y="3886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Personal Services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212080" y="41788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</a:rPr>
              <a:t>THE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DAOs already solved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half the problem.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196596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A3AF"/>
                </a:solidFill>
              </a:rPr>
              <a:t>We just need to apply those tools to real-world skilled work.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2560320"/>
            <a:ext cx="2788920" cy="22860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2560320"/>
            <a:ext cx="2788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Treasury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580C"/>
                </a:solidFill>
              </a:rPr>
              <a:t>PROBLEM: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11480" y="3566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cash flow protection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3886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</a:rPr>
              <a:t>SOLUTION: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11480" y="41605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Escrow-on-post. Get paid when milestone confirmed — not when GC decides.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2560320"/>
            <a:ext cx="2788920" cy="22860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2560320"/>
            <a:ext cx="27889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7432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3192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Governance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333756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580C"/>
                </a:solidFill>
              </a:rPr>
              <a:t>PROBLEM: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3337560" y="3566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seat at the table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3337560" y="3886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</a:rPr>
              <a:t>SOLUTION: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3337560" y="41605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vote on parameters, fee structures, and tier rules. Code enforces it.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126480" y="2560320"/>
            <a:ext cx="2788920" cy="22860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126480" y="2560320"/>
            <a:ext cx="2788920" cy="54864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74320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85800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Bounties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626364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580C"/>
                </a:solidFill>
              </a:rPr>
              <a:t>PROBLEM: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6263640" y="3566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path to break in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263640" y="3886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D9488"/>
                </a:solidFill>
              </a:rPr>
              <a:t>SOLUTION: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263640" y="41605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DAO-funded tasks for skill building, community work, and onboarding.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</a:rPr>
              <a:t>THE PROTOCOL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8580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Trailmark Guild</a:t>
            </a:r>
            <a:endParaRPr lang="en-US" sz="4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2004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infrastructure. Owned by workers.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03520" y="548640"/>
            <a:ext cx="356616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0" y="548640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594360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0" y="640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Portable Reputation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On-chain. Yours forever.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platform can take it.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03520" y="1435608"/>
            <a:ext cx="356616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0" y="1435608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481328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035040" y="1527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Tier System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18470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Peer-verified credentials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unlock real opportunities.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2322576"/>
            <a:ext cx="356616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2322576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368296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035040" y="241401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Milestone Escrow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27340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locked at job post.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on confirmation.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03520" y="3209544"/>
            <a:ext cx="356616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3209544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0" y="3255264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035040" y="33009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DAO Governance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36210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set the rules.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enforces them.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4096512"/>
            <a:ext cx="3566160" cy="8046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0" y="4096512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94960" y="4142232"/>
            <a:ext cx="548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035040" y="41879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Suite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035040" y="45079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for onboarding,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bidding, and career paths.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4008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first job to Guild Master.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28600" y="1463040"/>
            <a:ext cx="1645920" cy="32004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1463040"/>
            <a:ext cx="1645920" cy="54864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004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 Up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2971800"/>
            <a:ext cx="1463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+ ID. Start at Tier 0.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check. No insurance required.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74520" y="1938528"/>
            <a:ext cx="118872" cy="0"/>
          </a:xfrm>
          <a:prstGeom prst="line">
            <a:avLst/>
          </a:prstGeom>
          <a:noFill/>
          <a:ln w="25400">
            <a:solidFill>
              <a:srgbClr val="37415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93392" y="1463040"/>
            <a:ext cx="1645920" cy="32004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93392" y="1463040"/>
            <a:ext cx="1645920" cy="54864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42032" y="1691640"/>
            <a:ext cx="548640" cy="548640"/>
          </a:xfrm>
          <a:prstGeom prst="ellipse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84832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 Work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84832" y="2971800"/>
            <a:ext cx="1463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posted with funds in escrow.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milestones, get paid same day.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39312" y="1938528"/>
            <a:ext cx="118872" cy="0"/>
          </a:xfrm>
          <a:prstGeom prst="line">
            <a:avLst/>
          </a:prstGeom>
          <a:noFill/>
          <a:ln w="25400">
            <a:solidFill>
              <a:srgbClr val="37415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58184" y="1463040"/>
            <a:ext cx="1645920" cy="32004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58184" y="1463040"/>
            <a:ext cx="16459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06824" y="169164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0682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9624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Rep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49624" y="2971800"/>
            <a:ext cx="1463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job writes to your on-chain record.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Peers attest. Score rises.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04104" y="1938528"/>
            <a:ext cx="118872" cy="0"/>
          </a:xfrm>
          <a:prstGeom prst="line">
            <a:avLst/>
          </a:prstGeom>
          <a:noFill/>
          <a:ln w="25400">
            <a:solidFill>
              <a:srgbClr val="37415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22976" y="1463040"/>
            <a:ext cx="1645920" cy="32004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22976" y="1463040"/>
            <a:ext cx="16459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71616" y="169164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7161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614416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Unlock Access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14416" y="2971800"/>
            <a:ext cx="1463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2: city sub-contracts.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3: GC functions. DAO bond coverage.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68896" y="1938528"/>
            <a:ext cx="118872" cy="0"/>
          </a:xfrm>
          <a:prstGeom prst="line">
            <a:avLst/>
          </a:prstGeom>
          <a:noFill/>
          <a:ln w="25400">
            <a:solidFill>
              <a:srgbClr val="37415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1463040"/>
            <a:ext cx="1645920" cy="32004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87768" y="1463040"/>
            <a:ext cx="1645920" cy="54864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36408" y="1691640"/>
            <a:ext cx="548640" cy="548640"/>
          </a:xfrm>
          <a:prstGeom prst="ellips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364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79208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Govern It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379208" y="2971800"/>
            <a:ext cx="1463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on treasury. Set tier rules.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network.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</a:rPr>
              <a:t>YOUR AI CREW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400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 that work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while you work.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1920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specialized agents — each with a defined job, just like your crew.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" y="2468880"/>
            <a:ext cx="269748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2468880"/>
            <a:ext cx="26974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60604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Trailblazer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2816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</a:rPr>
              <a:t>Onboarding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65760" y="30358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you through sign-up in plain language. Detects your trade, pulls your TDLR license, finds your first vouchers.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54680" y="2468880"/>
            <a:ext cx="269748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154680" y="2468880"/>
            <a:ext cx="26974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60604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Scout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657600" y="2816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9488"/>
                </a:solidFill>
              </a:rPr>
              <a:t>Bid Intelligence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291840" y="30358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open jobs and Bonfire RFPs 24/7. Alerts you to matches. Drafts your first bid — you review and send.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80760" y="2468880"/>
            <a:ext cx="269748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080760" y="2468880"/>
            <a:ext cx="2697480" cy="54864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6060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83680" y="2560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Pathfinder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583680" y="2816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CD34D"/>
                </a:solidFill>
              </a:rPr>
              <a:t>Career Pathway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217920" y="30358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exactly what you need for the next tier. Surfaces training bounties. Tracks your progress in real time.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1691640" y="3703320"/>
            <a:ext cx="269748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691640" y="3703320"/>
            <a:ext cx="26974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40480"/>
            <a:ext cx="292608" cy="29260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194560" y="3794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Wrangler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2194560" y="40507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9488"/>
                </a:solidFill>
              </a:rPr>
              <a:t>Job Scoping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828800" y="4270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clients define work clearly before posting. Milestones set. Budget validated. Fewer disputes.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617720" y="3703320"/>
            <a:ext cx="269748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617720" y="3703320"/>
            <a:ext cx="2697480" cy="54864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40480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120640" y="3794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Ranger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5120640" y="40507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</a:rPr>
              <a:t>Treasury Watch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4754880" y="4270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DAO treasury health and bond coverage. Drafts governance proposals from data. Alerts before problems hit.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56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</a:rPr>
              <a:t>UNDER THE HOOD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shipping now — and what's coming.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617720" y="1280160"/>
            <a:ext cx="0" cy="356616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61872"/>
            <a:ext cx="155448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618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11827"/>
                </a:solidFill>
              </a:rPr>
              <a:t>LIVE / IN BUILD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691640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" y="1847088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7465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0025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on Ethereum — low fees, fast finality, EVM-compatible smart contracts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386584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2542032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4414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EAS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26974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Attestation Service — on-chain credentials workers own forever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81528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" y="3236976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1363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IPFS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339242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file storage for credential documents and job evidence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776472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93192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313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TDLR API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40873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license verification for 40+ Texas trades — pulled at sign-up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471416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" y="4626864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5262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Bonfire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47823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 Worth procurement monitoring — Scout agent scrapes open RFPs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1261872"/>
            <a:ext cx="1691640" cy="32918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26187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</a:rPr>
              <a:t>ON THE ROADMAP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1691640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4608" y="1847088"/>
            <a:ext cx="292608" cy="292608"/>
          </a:xfrm>
          <a:prstGeom prst="ellipse">
            <a:avLst/>
          </a:prstGeom>
          <a:solidFill>
            <a:srgbClr val="374151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1746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Peer Jury Disputes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57800" y="20025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evidence + staked jurors resolve milestone disagreements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2386584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542032"/>
            <a:ext cx="292608" cy="292608"/>
          </a:xfrm>
          <a:prstGeom prst="ellipse">
            <a:avLst/>
          </a:prstGeom>
          <a:solidFill>
            <a:srgbClr val="374151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57800" y="24414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Partial Payments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57800" y="26974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escrow release for partially completed milestones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00600" y="3081528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64608" y="3236976"/>
            <a:ext cx="292608" cy="292608"/>
          </a:xfrm>
          <a:prstGeom prst="ellipse">
            <a:avLst/>
          </a:prstGeom>
          <a:solidFill>
            <a:srgbClr val="374151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3136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 Governance Voting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257800" y="339242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Token-weighted on-chain votes for protocol parameters and treasury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00600" y="3776472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64608" y="3931920"/>
            <a:ext cx="292608" cy="292608"/>
          </a:xfrm>
          <a:prstGeom prst="ellipse">
            <a:avLst/>
          </a:prstGeom>
          <a:solidFill>
            <a:srgbClr val="374151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578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City Procurement API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257800" y="40873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sub-threshold job posting from Fort Worth city departments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4471416"/>
            <a:ext cx="4114800" cy="62179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64608" y="4626864"/>
            <a:ext cx="292608" cy="292608"/>
          </a:xfrm>
          <a:prstGeom prst="ellipse">
            <a:avLst/>
          </a:prstGeom>
          <a:solidFill>
            <a:srgbClr val="374151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7800" y="45262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Multi-City Expansion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57800" y="47823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is open — any city can deploy their own Guild on top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74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INTEGRATION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640080"/>
            <a:ext cx="8503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 with what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exists.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1920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A3AF"/>
                </a:solidFill>
              </a:rPr>
              <a:t>We don't replace licensing. We make it navigable and portable.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246888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46888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65176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5420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TDLR Licenses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28529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on-chain via API. Worker-owned attestation.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246888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17720" y="246888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65176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66360" y="25420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Bonfire Procurement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166360" y="28529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agent monitors RFPs. Workers get alerts before the deadline.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4320" y="333756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74320" y="333756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520440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" y="34107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City Bond Programs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22960" y="37216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treasury provides pooled bond coverage for qualified workers.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17720" y="333756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617720" y="333756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520440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66360" y="34107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M/WBE Certification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166360" y="37216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 as a credential tier. Increases bid weight.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274320" y="420624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274320" y="420624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389120"/>
            <a:ext cx="292608" cy="29260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22960" y="42793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National Cert Bodies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22960" y="4590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HVAC, electrical, plumbing certs → EAS attestation on-chain.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617720" y="4206240"/>
            <a:ext cx="4160520" cy="685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617720" y="4206240"/>
            <a:ext cx="54864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389120"/>
            <a:ext cx="292608" cy="29260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42793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Future DAOs &amp; Cities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166360" y="4590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is open. Any city can deploy their own Guild on top.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</a:rPr>
              <a:t>FWTX DAO  ·  Fort Worth, Texas  · 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42062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</a:rPr>
              <a:t>TRAILMARK GUILD PROTOCOL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96012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Verified work.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Fair pay.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Portable reputation.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320040" y="3429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every skill. Enforced by code. Owned by workers.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28600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24128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005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For the Handyman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675120" y="14173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rep, get paid on time, break into city work.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583680" y="2057400"/>
            <a:ext cx="228600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67128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8660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For the City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675120" y="25603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vendors, transparent compliance, less paperwork.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583680" y="3200400"/>
            <a:ext cx="2286000" cy="10058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310128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3291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</a:rPr>
              <a:t>For the Ecosystem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675120" y="37033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— any city, any skill, any builder.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Trailmark Guild Protocol</dc:title>
  <dc:subject>PptxGenJS Presentation</dc:subject>
  <dc:creator>PptxGenJS</dc:creator>
  <cp:lastModifiedBy>PptxGenJS</cp:lastModifiedBy>
  <cp:revision>1</cp:revision>
  <dcterms:created xsi:type="dcterms:W3CDTF">2026-05-02T04:21:19Z</dcterms:created>
  <dcterms:modified xsi:type="dcterms:W3CDTF">2026-05-02T04:21:19Z</dcterms:modified>
</cp:coreProperties>
</file>